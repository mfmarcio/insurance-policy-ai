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Abrir a apresentação do PolicyCompare AI — MVP local v1.2 para análise, consulta e comparação de apólices de seguro.
- Contexto da v1.2: zero chaves externas obrigatórias, 7 agentes especializados e 100% de processamento local.
- Princípio arquitetural que percorre toda a apresentação: IA interpreta; código valida, persiste e compara; evidência sempre rastreável.
- Pitch completo de 9 slides, ~12 minutos, com problema, solução, arquitetura, demo, mercado, roadmap e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 dor é estrutural: apólices são documentos longos, heterogêneos, com PDFs textuais, escaneados e formulários mistos.
- Latência manual: horas de leitura por apólice e comparação exige reabrir o documento a cada nova pergunta.
- Risco humano elevado: cláusulas críticas como exclusões e franquias passam despercebidas em revisão visual.
- Ausência de rastreabilidade é o que abre a oportunidade do PolicyCompare AI — todo o princípio da arquitetura nasce desse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Princípio arquitetural central: a IA interpreta conteúdo; o código valida, persiste, seleciona evidências e executa comparações objetivas.
- IA 100% local via Ollama + qwen3:4b garante privacidade de apólices sem enviar dados para provedores externos.
- Rastreabilidade nativa: toda conclusão carrega Evidence com página, trecho textual e confidence de 0 a 1.
- Comparação determinística é o diferencial — 7 classificações objetivas por código, com LLM apenas para o resumo executivo.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Arquitetura em 6 camadas desacopladas: interface, orquestração, agentes, serviços, modelos/persistência e IA local.
- LangGraph (PolicyWorkflow / StateGraph) orquestra o pipeline de estado e sequência entre os agentes.
- Os 7 agentes têm responsabilidades isoladas e auditáveis: Intake, Extraction, Clause, Structuring, Query, Comparison e Report.
- IA local via Ollama/qwen3:4b fica no fundo da stack — toda interpretação semântica é feita sem enviar apólices para a nuvem.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Pipeline de ingestão roda uma única vez por apólice — não há reprocesso de OCR ou LLM em consultas subsequentes.
- OCR Tesseract só dispara quando o PDF é escaneado, economizando tempo no caso mais comum.
- O Query Agent v1.2 (top-6, num_ctx=4096, num_predict=512) resolveu o timeout de 300s observado em versões anteriores.
- Persistência SQLite canônica viabiliza comparações offline e auditoria posterior.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TAM de R$ 580 BI reflete o prêmio de seguros LatAm em 2025, com Brasil concentrando ~45%.
- SAM de R$ 120 BI foca o prêmio empresarial (D&amp;O, Cyber, Patrimonial, Auto flotinhas), onde a comparação de apólices é recorrente.
- SOM de R$ 1,2 BI em 3 anos é conservador e cobre SaaS + on-prem para corretoras, resseguradores e seguradoras tier-2/3.
- Janela clara: regulação IA Brasil 2024, maturidade de LLMs locais e pressão por governança/LGPD.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RAG vetorial com embeddings multilíngues é prioridade 1 — destrava ranking semântico no Query Agent.
- API FastAPI v2.0 abre a porta para SaaS B2B e SDKs Python/TypeScript.
- Camada de segurança enterprise (SSO, RBAC, criptografia, auditoria) habilita clientes corporativos reais.
- Verticalização por ramo (Cyber, D&amp;O, Auto, Vida) é o moat defensivo de longo prazo.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Ask Seed de R$ 4,5M com runway de 24 meses pós-MVP.
- Distribuição: 40% P&amp;D, 25% Comercial &amp; Pilotos, 20% Segurança &amp; Compliance, 15% Avaliação &amp; Datasets.
- 5 pilotos pagos em corretoras/resseguradores são a prova de tração no início do ciclo.
- Breakeven operacional projetado em M18, com preparação para Série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Agradecer a audiência pelo tempo e atenção ao longo dos 9 slides.
- Convidar a audiência para uma demo ao vivo do pipeline, sob agendamento.
- Sugerir deep-dive técnico de 30min com arquitetura e roadmap detalhados.
- Abrir o espaço para Q&amp;A — foco em ask, tração e arquitetura alvo.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58986"/>
            <a:ext cx="57150" cy="5715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417909"/>
            <a:ext cx="80009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-7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PolicyCompare AI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7527191" y="389549"/>
            <a:ext cx="1125319" cy="196025"/>
          </a:xfrm>
          <a:prstGeom prst="roundRect">
            <a:avLst>
              <a:gd name="adj" fmla="val 485421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50051" y="400050"/>
            <a:ext cx="1079599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PITCH DECK · OUT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4625578"/>
            <a:ext cx="741733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POLICYCOMPARE AI · V1.2 · 06 OUT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945971" y="4625578"/>
            <a:ext cx="843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PITCH DECK / 01</a:t>
            </a:r>
            <a:endParaRPr lang="en-US" sz="619" dirty="0"/>
          </a:p>
        </p:txBody>
      </p:sp>
      <p:sp>
        <p:nvSpPr>
          <p:cNvPr id="8" name="Text 6"/>
          <p:cNvSpPr/>
          <p:nvPr/>
        </p:nvSpPr>
        <p:spPr>
          <a:xfrm>
            <a:off x="514350" y="1359768"/>
            <a:ext cx="571500" cy="28575"/>
          </a:xfrm>
          <a:prstGeom prst="roundRect">
            <a:avLst>
              <a:gd name="adj" fmla="val 6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1588368"/>
            <a:ext cx="7715250" cy="1555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90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Plataforma inteligente para análise, consulta e comparação de apólices de seguro.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14350" y="3185443"/>
            <a:ext cx="6286500" cy="475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MVP local com IA Generativa, OCR, agentes especializados e rastreabilidade por evidência. Versão 1.2.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514350" y="3911203"/>
            <a:ext cx="249424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514350" y="4268391"/>
            <a:ext cx="17068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CHAVES EXTERNAS OBRIGATÓRIAS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2301850" y="3954066"/>
            <a:ext cx="7144" cy="400050"/>
          </a:xfrm>
          <a:prstGeom prst="rect">
            <a:avLst/>
          </a:prstGeom>
          <a:solidFill>
            <a:srgbClr val="E5E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37594" y="3911203"/>
            <a:ext cx="194060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2537594" y="4268391"/>
            <a:ext cx="14364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AGENTES ESPECIALIZADOS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3979069" y="3954066"/>
            <a:ext cx="7144" cy="400050"/>
          </a:xfrm>
          <a:prstGeom prst="rect">
            <a:avLst/>
          </a:prstGeom>
          <a:solidFill>
            <a:srgbClr val="E5E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214813" y="3911203"/>
            <a:ext cx="178986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4214813" y="4268391"/>
            <a:ext cx="14054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PROCESSAMENTO LOCAL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6130"/>
            <a:ext cx="57150" cy="5715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425053"/>
            <a:ext cx="853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-7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PolicyCompare AI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1411337" y="435769"/>
            <a:ext cx="996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39590" y="435769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14640" y="388691"/>
            <a:ext cx="637870" cy="212027"/>
          </a:xfrm>
          <a:prstGeom prst="roundRect">
            <a:avLst>
              <a:gd name="adj" fmla="val 4487860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18473" y="400050"/>
            <a:ext cx="6302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PROBLEMA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1490" y="750308"/>
            <a:ext cx="711540" cy="196025"/>
          </a:xfrm>
          <a:prstGeom prst="roundRect">
            <a:avLst>
              <a:gd name="adj" fmla="val 485421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8208" y="760809"/>
            <a:ext cx="7381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 PROBLEMA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4350" y="1007269"/>
            <a:ext cx="4286250" cy="633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9"/>
              </a:lnSpc>
              <a:buNone/>
            </a:pPr>
            <a:r>
              <a:rPr lang="en-US" sz="2138" b="1" spc="-47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Análise de apólices é lenta, custosa e inauditável.</a:t>
            </a:r>
            <a:endParaRPr lang="en-US" sz="2138" dirty="0"/>
          </a:p>
        </p:txBody>
      </p:sp>
      <p:sp>
        <p:nvSpPr>
          <p:cNvPr id="11" name="Text 9"/>
          <p:cNvSpPr/>
          <p:nvPr/>
        </p:nvSpPr>
        <p:spPr>
          <a:xfrm>
            <a:off x="514350" y="1679228"/>
            <a:ext cx="4000500" cy="694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Apólices de seguro são documentos longos e heterogêneos — PDFs textuais, PDFs escaneados, formulários em múltiplas colunas, carimbos e assinaturas. A leitura humana é demorada, sujeita a erros, e deixa pouca rastreabilidade sobre por que uma cláusula foi interpretada de uma forma ou outra.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514350" y="2493615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547" dirty="0"/>
          </a:p>
        </p:txBody>
      </p:sp>
      <p:sp>
        <p:nvSpPr>
          <p:cNvPr id="13" name="Text 11"/>
          <p:cNvSpPr/>
          <p:nvPr/>
        </p:nvSpPr>
        <p:spPr>
          <a:xfrm>
            <a:off x="757238" y="2486471"/>
            <a:ext cx="3363116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Latência manual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757238" y="2636490"/>
            <a:ext cx="3202967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Horas de leitura por apólice; comparação exige reabrir o documento a cada pergunta.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514350" y="2824349"/>
            <a:ext cx="4429125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4350" y="2899358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⊗</a:t>
            </a:r>
            <a:endParaRPr lang="en-US" sz="1547" dirty="0"/>
          </a:p>
        </p:txBody>
      </p:sp>
      <p:sp>
        <p:nvSpPr>
          <p:cNvPr id="17" name="Text 15"/>
          <p:cNvSpPr/>
          <p:nvPr/>
        </p:nvSpPr>
        <p:spPr>
          <a:xfrm>
            <a:off x="757238" y="2892214"/>
            <a:ext cx="3269823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Risco de erro e omissão</a:t>
            </a:r>
            <a:endParaRPr lang="en-US" sz="844" dirty="0"/>
          </a:p>
        </p:txBody>
      </p:sp>
      <p:sp>
        <p:nvSpPr>
          <p:cNvPr id="18" name="Text 16"/>
          <p:cNvSpPr/>
          <p:nvPr/>
        </p:nvSpPr>
        <p:spPr>
          <a:xfrm>
            <a:off x="757238" y="3042233"/>
            <a:ext cx="3114117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Cláusulas críticas (exclusões, franquias) passam despercebidas em revisão visual.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514350" y="3230091"/>
            <a:ext cx="4429125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4350" y="3305101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lang="en-US" sz="1547" dirty="0"/>
          </a:p>
        </p:txBody>
      </p:sp>
      <p:sp>
        <p:nvSpPr>
          <p:cNvPr id="21" name="Text 19"/>
          <p:cNvSpPr/>
          <p:nvPr/>
        </p:nvSpPr>
        <p:spPr>
          <a:xfrm>
            <a:off x="757238" y="3297957"/>
            <a:ext cx="2933687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44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Falta de rastreabilidade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757238" y="3447976"/>
            <a:ext cx="2793988" cy="119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 página de origem ou evidência textual, decisões ficam sem auditoria.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5375672" y="764381"/>
            <a:ext cx="1521619" cy="997223"/>
          </a:xfrm>
          <a:prstGeom prst="roundRect">
            <a:avLst>
              <a:gd name="adj" fmla="val 1146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507831" y="882253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40+</a:t>
            </a:r>
            <a:endParaRPr lang="en-US" sz="1688" dirty="0"/>
          </a:p>
        </p:txBody>
      </p:sp>
      <p:sp>
        <p:nvSpPr>
          <p:cNvPr id="25" name="Text 23"/>
          <p:cNvSpPr/>
          <p:nvPr/>
        </p:nvSpPr>
        <p:spPr>
          <a:xfrm>
            <a:off x="5507831" y="1168003"/>
            <a:ext cx="125730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6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PÁGINAS POR APÓLICE COMPLEXA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07831" y="1403747"/>
            <a:ext cx="133273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Documentos empresariais (D&amp;O, Cyber, Patrimonial)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990159" y="764381"/>
            <a:ext cx="1521619" cy="997223"/>
          </a:xfrm>
          <a:prstGeom prst="roundRect">
            <a:avLst>
              <a:gd name="adj" fmla="val 1146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22319" y="882253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3h</a:t>
            </a:r>
            <a:endParaRPr lang="en-US" sz="1688" dirty="0"/>
          </a:p>
        </p:txBody>
      </p:sp>
      <p:sp>
        <p:nvSpPr>
          <p:cNvPr id="29" name="Text 27"/>
          <p:cNvSpPr/>
          <p:nvPr/>
        </p:nvSpPr>
        <p:spPr>
          <a:xfrm>
            <a:off x="7122319" y="1168003"/>
            <a:ext cx="125730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6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TEMPO MÉDIO DE LEITURA HUMANA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122319" y="1403747"/>
            <a:ext cx="1257300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 apólice, sem contar comparação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75672" y="1854473"/>
            <a:ext cx="1521619" cy="997223"/>
          </a:xfrm>
          <a:prstGeom prst="roundRect">
            <a:avLst>
              <a:gd name="adj" fmla="val 1146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507831" y="1972345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5507831" y="2258095"/>
            <a:ext cx="125730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6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EVIDÊNCIA TEXTUAL POR PADRÃO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07831" y="2493838"/>
            <a:ext cx="133273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Maioria das ferramentas não rastreia página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90159" y="1854473"/>
            <a:ext cx="1521619" cy="997223"/>
          </a:xfrm>
          <a:prstGeom prst="roundRect">
            <a:avLst>
              <a:gd name="adj" fmla="val 1146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122319" y="1972345"/>
            <a:ext cx="1257300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34" kern="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∞</a:t>
            </a:r>
            <a:endParaRPr lang="en-US" sz="1688" dirty="0"/>
          </a:p>
        </p:txBody>
      </p:sp>
      <p:sp>
        <p:nvSpPr>
          <p:cNvPr id="37" name="Text 35"/>
          <p:cNvSpPr/>
          <p:nvPr/>
        </p:nvSpPr>
        <p:spPr>
          <a:xfrm>
            <a:off x="7122319" y="2258095"/>
            <a:ext cx="1257300" cy="296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56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CUSTO MARGINAL POR CONSULTA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122319" y="2493838"/>
            <a:ext cx="1332738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pergunta reprocessa o documento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14350" y="4550569"/>
            <a:ext cx="8115300" cy="0"/>
          </a:xfrm>
          <a:prstGeom prst="line">
            <a:avLst/>
          </a:prstGeom>
          <a:noFill/>
          <a:ln w="7144">
            <a:solidFill>
              <a:srgbClr val="0A0A0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32820" y="4625578"/>
            <a:ext cx="49968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PITCH DECK · POLICYCOMPARE AI · 02 / 09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6130"/>
            <a:ext cx="57150" cy="5715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425053"/>
            <a:ext cx="853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-7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PolicyCompare AI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1411337" y="435769"/>
            <a:ext cx="996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39590" y="435769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072554" y="388691"/>
            <a:ext cx="578523" cy="212027"/>
          </a:xfrm>
          <a:prstGeom prst="roundRect">
            <a:avLst>
              <a:gd name="adj" fmla="val 4487860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093980" y="400050"/>
            <a:ext cx="53567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SOLUÇÃO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91490" y="750308"/>
            <a:ext cx="647134" cy="196025"/>
          </a:xfrm>
          <a:prstGeom prst="roundRect">
            <a:avLst>
              <a:gd name="adj" fmla="val 485421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3552" y="760809"/>
            <a:ext cx="6230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50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SOLUÇÃO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4350" y="1021556"/>
            <a:ext cx="7858125" cy="7331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73"/>
              </a:lnSpc>
              <a:buNone/>
            </a:pPr>
            <a:r>
              <a:rPr lang="en-US" sz="2475" b="1" spc="-54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 local interpreta. Código valida, persiste e compara. Evidência sempre rastreável.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514350" y="1800448"/>
            <a:ext cx="6429375" cy="402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13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Princípio arquitetural: a IA interpreta o conteúdo; o código valida, persiste, seleciona evidências e executa comparações objetivas sempre que possível.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514350" y="2287563"/>
            <a:ext cx="571500" cy="28575"/>
          </a:xfrm>
          <a:prstGeom prst="roundRect">
            <a:avLst>
              <a:gd name="adj" fmla="val 6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7922" y="2476872"/>
            <a:ext cx="1935956" cy="1923678"/>
          </a:xfrm>
          <a:prstGeom prst="roundRect">
            <a:avLst>
              <a:gd name="adj" fmla="val 693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8656" y="2637606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19376" y="267832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969" dirty="0"/>
          </a:p>
        </p:txBody>
      </p:sp>
      <p:sp>
        <p:nvSpPr>
          <p:cNvPr id="16" name="Text 14"/>
          <p:cNvSpPr/>
          <p:nvPr/>
        </p:nvSpPr>
        <p:spPr>
          <a:xfrm>
            <a:off x="678656" y="3123381"/>
            <a:ext cx="161448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spc="-10" kern="0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IA 100% local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678656" y="3341266"/>
            <a:ext cx="1614488" cy="713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Processamento via Ollama + qwen3:4b sem enviar apólices para provedores externos. Nenhuma chave de API comercial obrigatória.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5796" y="4073223"/>
            <a:ext cx="888683" cy="176022"/>
          </a:xfrm>
          <a:prstGeom prst="roundRect">
            <a:avLst>
              <a:gd name="adj" fmla="val 5405844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78656" y="4082653"/>
            <a:ext cx="8429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OLLAMA · QWEN3 4B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75322" y="2476872"/>
            <a:ext cx="1935956" cy="1923678"/>
          </a:xfrm>
          <a:prstGeom prst="roundRect">
            <a:avLst>
              <a:gd name="adj" fmla="val 693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36056" y="2637606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776776" y="267832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2736056" y="3123381"/>
            <a:ext cx="1614488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spc="-10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Rastreabilidade por evidência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2736056" y="3502000"/>
            <a:ext cx="1614488" cy="553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Toda conclusão carrega Evidence com página, trecho textual e confidence de 0 a 1. Auditoria nativa da arquitetura.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13196" y="4073223"/>
            <a:ext cx="1160145" cy="176022"/>
          </a:xfrm>
          <a:prstGeom prst="roundRect">
            <a:avLst>
              <a:gd name="adj" fmla="val 5405844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736056" y="4082653"/>
            <a:ext cx="11144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 · TEXT · CONFIDENCE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32722" y="2476872"/>
            <a:ext cx="1935956" cy="1923678"/>
          </a:xfrm>
          <a:prstGeom prst="roundRect">
            <a:avLst>
              <a:gd name="adj" fmla="val 693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93456" y="2637606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4176" y="267832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30" name="Text 28"/>
          <p:cNvSpPr/>
          <p:nvPr/>
        </p:nvSpPr>
        <p:spPr>
          <a:xfrm>
            <a:off x="4793456" y="3123381"/>
            <a:ext cx="161448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spc="-10" kern="0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agentes especializados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4793456" y="3341266"/>
            <a:ext cx="1614488" cy="713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Intake, Extraction, Clause, Structuring, Query, Comparison e Report — cada um com responsabilidade isolada e auditável via LangGraph.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70596" y="4073223"/>
            <a:ext cx="1073081" cy="176022"/>
          </a:xfrm>
          <a:prstGeom prst="roundRect">
            <a:avLst>
              <a:gd name="adj" fmla="val 5405844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93456" y="4082653"/>
            <a:ext cx="1027361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 STATE GRAPH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90122" y="2476872"/>
            <a:ext cx="1935956" cy="1923678"/>
          </a:xfrm>
          <a:prstGeom prst="roundRect">
            <a:avLst>
              <a:gd name="adj" fmla="val 693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0856" y="2637606"/>
            <a:ext cx="371475" cy="371475"/>
          </a:xfrm>
          <a:prstGeom prst="roundRect">
            <a:avLst>
              <a:gd name="adj" fmla="val 30769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891576" y="2678326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lang="en-US" sz="1969" dirty="0"/>
          </a:p>
        </p:txBody>
      </p:sp>
      <p:sp>
        <p:nvSpPr>
          <p:cNvPr id="37" name="Text 35"/>
          <p:cNvSpPr/>
          <p:nvPr/>
        </p:nvSpPr>
        <p:spPr>
          <a:xfrm>
            <a:off x="6850856" y="3123381"/>
            <a:ext cx="1711357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spc="-10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Comparação determinística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6850856" y="3341266"/>
            <a:ext cx="1614488" cy="713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Valores numéricos, existência e favorabilidade são classificados por código; LLM só redige resumo executivo. Resultado testável.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4428" y="4086225"/>
            <a:ext cx="1247254" cy="150019"/>
          </a:xfrm>
          <a:prstGeom prst="roundRect">
            <a:avLst>
              <a:gd name="adj" fmla="val 6342847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50856" y="4082653"/>
            <a:ext cx="1254398" cy="157163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800" spc="45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CLASSIFICAÇÕES OBJETIVAS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14350" y="4536281"/>
            <a:ext cx="8115300" cy="0"/>
          </a:xfrm>
          <a:prstGeom prst="line">
            <a:avLst/>
          </a:prstGeom>
          <a:noFill/>
          <a:ln w="7144">
            <a:solidFill>
              <a:srgbClr val="0A0A0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32820" y="4625578"/>
            <a:ext cx="49968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PITCH DECK · POLICYCOMPARE AI · 03 / 09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6130"/>
            <a:ext cx="57150" cy="5715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425053"/>
            <a:ext cx="853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spc="-7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PolicyCompare AI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1411337" y="435769"/>
            <a:ext cx="996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39590" y="435769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09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899894" y="388691"/>
            <a:ext cx="752616" cy="212027"/>
          </a:xfrm>
          <a:prstGeom prst="roundRect">
            <a:avLst>
              <a:gd name="adj" fmla="val 4487860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49604" y="400050"/>
            <a:ext cx="85319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ARQUITETURA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4350" y="703659"/>
            <a:ext cx="862965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7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Visão em camadas + 7 agentes especializados</a:t>
            </a:r>
            <a:endParaRPr lang="en-US" sz="1688" dirty="0"/>
          </a:p>
        </p:txBody>
      </p:sp>
      <p:sp>
        <p:nvSpPr>
          <p:cNvPr id="9" name="Text 7"/>
          <p:cNvSpPr/>
          <p:nvPr/>
        </p:nvSpPr>
        <p:spPr>
          <a:xfrm>
            <a:off x="514350" y="986507"/>
            <a:ext cx="6429375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orquestrado por StateGraph do LangGraph: intake → extract → chunk → analyze → structure → persist.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7922" y="1230064"/>
            <a:ext cx="4421981" cy="367010"/>
          </a:xfrm>
          <a:prstGeom prst="roundRect">
            <a:avLst>
              <a:gd name="adj" fmla="val 23358"/>
            </a:avLst>
          </a:prstGeom>
          <a:solidFill>
            <a:srgbClr val="FFFFFF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4959" y="1349276"/>
            <a:ext cx="9742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 · INTERFACE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435894" y="1338560"/>
            <a:ext cx="20431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Streamlit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964656" y="1297930"/>
            <a:ext cx="1871663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Upload, acompanhamento, consulta, comparação, download de relatório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832497" y="1614934"/>
            <a:ext cx="7144" cy="28575"/>
          </a:xfrm>
          <a:prstGeom prst="rect">
            <a:avLst/>
          </a:prstGeom>
          <a:solidFill>
            <a:srgbClr val="E5E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17922" y="1711375"/>
            <a:ext cx="4421981" cy="392906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1506" y="1779240"/>
            <a:ext cx="7643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ORQUESTRAÇÃO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435894" y="1832818"/>
            <a:ext cx="15430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LangGraph / PolicyWorkflow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814923" y="1850008"/>
            <a:ext cx="2021395" cy="14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Controla estado e sequência do pipeline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832497" y="2122140"/>
            <a:ext cx="7144" cy="28575"/>
          </a:xfrm>
          <a:prstGeom prst="rect">
            <a:avLst/>
          </a:prstGeom>
          <a:solidFill>
            <a:srgbClr val="E5E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17922" y="2218581"/>
            <a:ext cx="4421981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1506" y="2297162"/>
            <a:ext cx="94118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AGENTES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35894" y="2286446"/>
            <a:ext cx="1785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agentes especializados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814923" y="2303636"/>
            <a:ext cx="2021395" cy="132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Tarefas desacopladas e auditáveis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32497" y="2522190"/>
            <a:ext cx="7144" cy="28575"/>
          </a:xfrm>
          <a:prstGeom prst="rect">
            <a:avLst/>
          </a:prstGeom>
          <a:solidFill>
            <a:srgbClr val="E5E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7922" y="2618631"/>
            <a:ext cx="4421981" cy="435769"/>
          </a:xfrm>
          <a:prstGeom prst="roundRect">
            <a:avLst>
              <a:gd name="adj" fmla="val 19672"/>
            </a:avLst>
          </a:prstGeom>
          <a:solidFill>
            <a:srgbClr val="FFFFFF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1506" y="2772221"/>
            <a:ext cx="9411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SERVIÇOS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435894" y="2686496"/>
            <a:ext cx="1514475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· OCR · Chunking · Retrieval · LLM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14923" y="2778696"/>
            <a:ext cx="2021395" cy="14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Capacidades técnicas reutilizáveis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832497" y="3072259"/>
            <a:ext cx="7144" cy="28575"/>
          </a:xfrm>
          <a:prstGeom prst="rect">
            <a:avLst/>
          </a:prstGeom>
          <a:solidFill>
            <a:srgbClr val="E5E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17922" y="3168700"/>
            <a:ext cx="4421981" cy="392906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21506" y="3236565"/>
            <a:ext cx="76438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MODELOS &amp; PERSISTÊNCIA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435894" y="3290143"/>
            <a:ext cx="17859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Pydantic + SQLite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814923" y="3307333"/>
            <a:ext cx="2021395" cy="148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Contrato canônico e armazenamento local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2832497" y="3579465"/>
            <a:ext cx="7144" cy="28575"/>
          </a:xfrm>
          <a:prstGeom prst="rect">
            <a:avLst/>
          </a:prstGeom>
          <a:solidFill>
            <a:srgbClr val="E5E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17922" y="3675906"/>
            <a:ext cx="4421981" cy="28575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21506" y="3754487"/>
            <a:ext cx="94118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54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IA LOCAL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435894" y="3743771"/>
            <a:ext cx="178593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Ollama / qwen3:4b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814923" y="3760961"/>
            <a:ext cx="2021395" cy="1328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11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Interpretação semântica, resposta e resumo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5200650" y="1226493"/>
            <a:ext cx="37448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AGENTES ESPECIALIZADOS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200650" y="1805806"/>
            <a:ext cx="3143250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00650" y="1522958"/>
            <a:ext cx="17609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spc="39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82146" y="1515814"/>
            <a:ext cx="296175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Intake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00675" y="1650095"/>
            <a:ext cx="3052953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Valida arquivo e gera ID por SHA-256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200650" y="2149376"/>
            <a:ext cx="3143250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00650" y="1866528"/>
            <a:ext cx="17609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spc="39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382146" y="1859384"/>
            <a:ext cx="296175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Extraction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400675" y="1993664"/>
            <a:ext cx="3052953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PyMuPDF + Tesseract com fallback OCR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200650" y="2492946"/>
            <a:ext cx="3143250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00650" y="2210098"/>
            <a:ext cx="17609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spc="39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382146" y="2202954"/>
            <a:ext cx="296175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Clause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00675" y="2337234"/>
            <a:ext cx="3052953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+ TF-IDF: dados estruturados por chunk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200650" y="2836515"/>
            <a:ext cx="3143250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00650" y="2553667"/>
            <a:ext cx="17609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spc="39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382146" y="2546524"/>
            <a:ext cx="296175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Structuring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400675" y="2680804"/>
            <a:ext cx="3052953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Converte em PolicyData canônico Pydantic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5200650" y="3180085"/>
            <a:ext cx="3143250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00650" y="2897237"/>
            <a:ext cx="17609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spc="39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382146" y="2890093"/>
            <a:ext cx="296175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Query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00675" y="3024374"/>
            <a:ext cx="3052953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Contexto reduzido: top-6 candidatos + LLM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200650" y="3523655"/>
            <a:ext cx="3143250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00650" y="3240807"/>
            <a:ext cx="17609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spc="39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382146" y="3233663"/>
            <a:ext cx="296175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Comparison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400675" y="3367943"/>
            <a:ext cx="3052953" cy="10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Pareamento SequenceMatcher + LLM p/ resumo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200650" y="3584377"/>
            <a:ext cx="176093" cy="109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b="1" spc="39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382146" y="3577233"/>
            <a:ext cx="2961754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spc="-8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400675" y="3711513"/>
            <a:ext cx="3178683" cy="142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comparativo via ReportLab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14350" y="4564856"/>
            <a:ext cx="8115300" cy="0"/>
          </a:xfrm>
          <a:prstGeom prst="line">
            <a:avLst/>
          </a:prstGeom>
          <a:noFill/>
          <a:ln w="7144">
            <a:solidFill>
              <a:srgbClr val="0A0A0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632820" y="4625578"/>
            <a:ext cx="499683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PITCH DECK · POLICYCOMPARE AI · 04 / 09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6130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435769"/>
            <a:ext cx="1513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POLICYCOMPARE AI · 05 / 09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219518" y="388691"/>
            <a:ext cx="425906" cy="212027"/>
          </a:xfrm>
          <a:prstGeom prst="roundRect">
            <a:avLst>
              <a:gd name="adj" fmla="val 4487860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35293" y="400050"/>
            <a:ext cx="39435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1490" y="743164"/>
            <a:ext cx="1320768" cy="196025"/>
          </a:xfrm>
          <a:prstGeom prst="roundRect">
            <a:avLst>
              <a:gd name="adj" fmla="val 485421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753666"/>
            <a:ext cx="127504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FLUXO DE PROCESSAMENTO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4350" y="1014413"/>
            <a:ext cx="8629650" cy="32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21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 apólice bruta ao relatório comparativo auditável</a:t>
            </a:r>
            <a:endParaRPr lang="en-US" sz="2138" dirty="0"/>
          </a:p>
        </p:txBody>
      </p:sp>
      <p:sp>
        <p:nvSpPr>
          <p:cNvPr id="9" name="Text 7"/>
          <p:cNvSpPr/>
          <p:nvPr/>
        </p:nvSpPr>
        <p:spPr>
          <a:xfrm>
            <a:off x="514350" y="1384436"/>
            <a:ext cx="64293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de ingestão roda uma única vez por apólice. Consultas e comparações operam sobre PolicyData já persistido — sem reprocessar OCR ou LLM.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728663" y="2604343"/>
            <a:ext cx="7686675" cy="14288"/>
          </a:xfrm>
          <a:prstGeom prst="rect">
            <a:avLst/>
          </a:prstGeom>
          <a:solidFill>
            <a:srgbClr val="E5E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14350" y="3506353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APÓS PERSISTÊNCIA, 3 OPERAÇÕES SOB DADOS ESTRUTURADOS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7922" y="3720666"/>
            <a:ext cx="2621756" cy="822759"/>
          </a:xfrm>
          <a:prstGeom prst="roundRect">
            <a:avLst>
              <a:gd name="adj" fmla="val 1389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0081" y="384568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〜</a:t>
            </a:r>
            <a:endParaRPr lang="en-US" sz="1547" dirty="0"/>
          </a:p>
        </p:txBody>
      </p:sp>
      <p:sp>
        <p:nvSpPr>
          <p:cNvPr id="14" name="Text 12"/>
          <p:cNvSpPr/>
          <p:nvPr/>
        </p:nvSpPr>
        <p:spPr>
          <a:xfrm>
            <a:off x="864394" y="3838538"/>
            <a:ext cx="21431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CONSULTAR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0081" y="4052850"/>
            <a:ext cx="2357438" cy="3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Query Agent v1.2: ranking lexical top-6, num_ctx=4096, num_predict=512, máximo 3 evidências. Latência controlada, sem timeout.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61122" y="3720666"/>
            <a:ext cx="2621756" cy="822759"/>
          </a:xfrm>
          <a:prstGeom prst="roundRect">
            <a:avLst>
              <a:gd name="adj" fmla="val 1389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93281" y="384568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18" name="Text 16"/>
          <p:cNvSpPr/>
          <p:nvPr/>
        </p:nvSpPr>
        <p:spPr>
          <a:xfrm>
            <a:off x="3607594" y="3838538"/>
            <a:ext cx="21431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COMPARAR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93281" y="4052850"/>
            <a:ext cx="2357438" cy="372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Comparison Agent: pareamento por SequenceMatcher, classificação objetiva, resumo via LLM com fallback determinístico.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004322" y="3720666"/>
            <a:ext cx="2621756" cy="822759"/>
          </a:xfrm>
          <a:prstGeom prst="roundRect">
            <a:avLst>
              <a:gd name="adj" fmla="val 1389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36481" y="3845682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547" dirty="0"/>
          </a:p>
        </p:txBody>
      </p:sp>
      <p:sp>
        <p:nvSpPr>
          <p:cNvPr id="22" name="Text 20"/>
          <p:cNvSpPr/>
          <p:nvPr/>
        </p:nvSpPr>
        <p:spPr>
          <a:xfrm>
            <a:off x="6350794" y="3838538"/>
            <a:ext cx="214312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36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36481" y="4052850"/>
            <a:ext cx="2357438" cy="318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 Agent gera PDF com tabela, classificações e evidências.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4350" y="4550569"/>
            <a:ext cx="8115300" cy="0"/>
          </a:xfrm>
          <a:prstGeom prst="line">
            <a:avLst/>
          </a:prstGeom>
          <a:noFill/>
          <a:ln w="7144">
            <a:solidFill>
              <a:srgbClr val="0A0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5590" y="4633365"/>
            <a:ext cx="469865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PITCH DECK · POLICYCOMPARE AI · 05 / 09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88536" y="46255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09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4350" y="1845208"/>
            <a:ext cx="1250156" cy="153255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7318" y="193093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96566" y="2152390"/>
            <a:ext cx="85725" cy="85725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5E5E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039416" y="23667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lang="en-US" sz="1969" dirty="0"/>
          </a:p>
        </p:txBody>
      </p:sp>
      <p:sp>
        <p:nvSpPr>
          <p:cNvPr id="31" name="Text 29"/>
          <p:cNvSpPr/>
          <p:nvPr/>
        </p:nvSpPr>
        <p:spPr>
          <a:xfrm>
            <a:off x="987623" y="2609590"/>
            <a:ext cx="30360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Upload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57213" y="2881052"/>
            <a:ext cx="116443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PDF, PNG, JPG, TIFF via Streamlit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887401" y="1845208"/>
            <a:ext cx="1250156" cy="153255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420369" y="193093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469617" y="2152390"/>
            <a:ext cx="85725" cy="85725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5E5E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412467" y="23667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⎙</a:t>
            </a:r>
            <a:endParaRPr lang="en-US" sz="1969" dirty="0"/>
          </a:p>
        </p:txBody>
      </p:sp>
      <p:sp>
        <p:nvSpPr>
          <p:cNvPr id="37" name="Text 35"/>
          <p:cNvSpPr/>
          <p:nvPr/>
        </p:nvSpPr>
        <p:spPr>
          <a:xfrm>
            <a:off x="2377641" y="2609590"/>
            <a:ext cx="269677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Intake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930264" y="2881052"/>
            <a:ext cx="116443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Validação + ID SHA-256 do conteúdo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60452" y="1845208"/>
            <a:ext cx="1250156" cy="153255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793420" y="193093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842668" y="2152390"/>
            <a:ext cx="85725" cy="85725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5E5E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785518" y="23667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969" dirty="0"/>
          </a:p>
        </p:txBody>
      </p:sp>
      <p:sp>
        <p:nvSpPr>
          <p:cNvPr id="43" name="Text 41"/>
          <p:cNvSpPr/>
          <p:nvPr/>
        </p:nvSpPr>
        <p:spPr>
          <a:xfrm>
            <a:off x="3736628" y="2609590"/>
            <a:ext cx="29769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Extract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03315" y="2881052"/>
            <a:ext cx="119936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PyMuPDF nativo + OCR fallback Tesseract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633392" y="1845208"/>
            <a:ext cx="1250156" cy="153255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66359" y="193093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15607" y="2152390"/>
            <a:ext cx="85725" cy="85725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5E5E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158457" y="23667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49" name="Text 47"/>
          <p:cNvSpPr/>
          <p:nvPr/>
        </p:nvSpPr>
        <p:spPr>
          <a:xfrm>
            <a:off x="4883869" y="2609590"/>
            <a:ext cx="74908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Chunk + Retrieve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676254" y="2881052"/>
            <a:ext cx="119936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Blocos de 6k chars, overlap 500, TF-IDF top-8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006443" y="1845208"/>
            <a:ext cx="1250156" cy="153255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539410" y="193093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588658" y="2152390"/>
            <a:ext cx="85725" cy="85725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5E5E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531508" y="23667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55" name="Text 53"/>
          <p:cNvSpPr/>
          <p:nvPr/>
        </p:nvSpPr>
        <p:spPr>
          <a:xfrm>
            <a:off x="6222095" y="2609590"/>
            <a:ext cx="81885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Clause + Structure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049305" y="2881052"/>
            <a:ext cx="1199364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interpreta; Pydantic valida PolicyData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379494" y="1845208"/>
            <a:ext cx="1250156" cy="153255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912461" y="1930933"/>
            <a:ext cx="18422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961709" y="2152390"/>
            <a:ext cx="85725" cy="85725"/>
          </a:xfrm>
          <a:prstGeom prst="ellipse">
            <a:avLst/>
          </a:prstGeom>
          <a:solidFill>
            <a:srgbClr val="10B981"/>
          </a:solidFill>
          <a:ln w="2857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5E5E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904559" y="2366702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A0A0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⤓</a:t>
            </a:r>
            <a:endParaRPr lang="en-US" sz="1969" dirty="0"/>
          </a:p>
        </p:txBody>
      </p:sp>
      <p:sp>
        <p:nvSpPr>
          <p:cNvPr id="61" name="Text 59"/>
          <p:cNvSpPr/>
          <p:nvPr/>
        </p:nvSpPr>
        <p:spPr>
          <a:xfrm>
            <a:off x="7448252" y="2609590"/>
            <a:ext cx="111263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 + Query/Compare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422356" y="2881052"/>
            <a:ext cx="1164431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SQLite + consulta otimizada v1.2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6130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435769"/>
            <a:ext cx="1513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POLICYCOMPARE AI · 06 / 09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053051" y="388691"/>
            <a:ext cx="598776" cy="212027"/>
          </a:xfrm>
          <a:prstGeom prst="roundRect">
            <a:avLst>
              <a:gd name="adj" fmla="val 4487860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74502" y="400050"/>
            <a:ext cx="55587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MERCADO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1490" y="743164"/>
            <a:ext cx="1188943" cy="196025"/>
          </a:xfrm>
          <a:prstGeom prst="roundRect">
            <a:avLst>
              <a:gd name="adj" fmla="val 485421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753666"/>
            <a:ext cx="114322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MERCADO ENDEREÇAVEL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4350" y="1014413"/>
            <a:ext cx="7858125" cy="644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21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Brasil e LatAm: prêmio de seguros robusto, digitalização tardia, IA ainda incipiente.</a:t>
            </a:r>
            <a:endParaRPr lang="en-US" sz="2138" dirty="0"/>
          </a:p>
        </p:txBody>
      </p:sp>
      <p:sp>
        <p:nvSpPr>
          <p:cNvPr id="9" name="Text 7"/>
          <p:cNvSpPr/>
          <p:nvPr/>
        </p:nvSpPr>
        <p:spPr>
          <a:xfrm>
            <a:off x="517922" y="1772320"/>
            <a:ext cx="3240807" cy="796417"/>
          </a:xfrm>
          <a:prstGeom prst="roundRect">
            <a:avLst>
              <a:gd name="adj" fmla="val 14352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1890192"/>
            <a:ext cx="29193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78656" y="2022351"/>
            <a:ext cx="2919338" cy="271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R$ 580 BI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678656" y="2320937"/>
            <a:ext cx="2919338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Prêmio de seguros LatAm (2025) — Brasil concentra ~45%</a:t>
            </a:r>
            <a:endParaRPr lang="en-US" sz="731" dirty="0"/>
          </a:p>
        </p:txBody>
      </p:sp>
      <p:sp>
        <p:nvSpPr>
          <p:cNvPr id="13" name="Text 11"/>
          <p:cNvSpPr/>
          <p:nvPr/>
        </p:nvSpPr>
        <p:spPr>
          <a:xfrm>
            <a:off x="832805" y="2607241"/>
            <a:ext cx="2921794" cy="935831"/>
          </a:xfrm>
          <a:prstGeom prst="roundRect">
            <a:avLst>
              <a:gd name="adj" fmla="val 12214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93539" y="2767976"/>
            <a:ext cx="288965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993539" y="2910851"/>
            <a:ext cx="2600325" cy="271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dirty="0">
                <a:solidFill>
                  <a:srgbClr val="0A0A0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R$ 120 BI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993539" y="3209437"/>
            <a:ext cx="2600325" cy="215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Prêmio empresarial — D&amp;O, Cyber, Patrimonial, Auto flotinhas — onde a comparação de apólices é recorrente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00208" y="3581577"/>
            <a:ext cx="2528888" cy="907256"/>
          </a:xfrm>
          <a:prstGeom prst="roundRect">
            <a:avLst>
              <a:gd name="adj" fmla="val 12598"/>
            </a:avLst>
          </a:prstGeom>
          <a:solidFill>
            <a:srgbClr val="D1FAE5"/>
          </a:solidFill>
          <a:ln w="7144">
            <a:solidFill>
              <a:srgbClr val="D1FA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331080" y="3742312"/>
            <a:ext cx="805241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SOM (3 ANOS)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60942" y="3885187"/>
            <a:ext cx="2207419" cy="271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R$ 1,2 BI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1360942" y="4183773"/>
            <a:ext cx="2207419" cy="1871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SaaS + on-prem para corretoras, resseguradores e seguradoras tier-2/3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990901" y="1768748"/>
            <a:ext cx="51530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POR QUE AGORA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90901" y="1965201"/>
            <a:ext cx="4000500" cy="71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 mercado brasileiro tem mais de 600 seguradoras e milhares de corretoras que ainda processam apólices manualmente. A regulação aberta a IA, a maturidade dos LLMs locais e a pressão por governança criam uma janela clara para uma plataforma auditável.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3994472" y="2747442"/>
            <a:ext cx="1412007" cy="985726"/>
          </a:xfrm>
          <a:prstGeom prst="roundRect">
            <a:avLst>
              <a:gd name="adj" fmla="val 11596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12344" y="2851026"/>
            <a:ext cx="1176263" cy="225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575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600+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4112344" y="3103848"/>
            <a:ext cx="1176263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SEGURADORAS ATIVAS NO BRASIL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2344" y="3389598"/>
            <a:ext cx="1176263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SUSEP, 2024 — mercado fragmentado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99348" y="2747442"/>
            <a:ext cx="1412118" cy="985726"/>
          </a:xfrm>
          <a:prstGeom prst="roundRect">
            <a:avLst>
              <a:gd name="adj" fmla="val 11596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17220" y="2851026"/>
            <a:ext cx="1176375" cy="225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575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70%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5617220" y="3103848"/>
            <a:ext cx="1246957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CORRETORAS SEM AUTOMAÇÃO DE LEITURA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617220" y="3389598"/>
            <a:ext cx="1246957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Processo ainda majoritariamente manual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04335" y="2747442"/>
            <a:ext cx="1412118" cy="985726"/>
          </a:xfrm>
          <a:prstGeom prst="roundRect">
            <a:avLst>
              <a:gd name="adj" fmla="val 11596"/>
            </a:avLst>
          </a:prstGeom>
          <a:solidFill>
            <a:srgbClr val="FAFAF9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22207" y="2851026"/>
            <a:ext cx="1176375" cy="225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575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&lt;5%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7122207" y="3103848"/>
            <a:ext cx="1246957" cy="258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6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 APÓLICES COM EXTRAÇÃO EVIDÊNCIADA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22207" y="3389598"/>
            <a:ext cx="1176375" cy="239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Ausência de rastreabilidade nativa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94472" y="3840324"/>
            <a:ext cx="1351397" cy="182166"/>
          </a:xfrm>
          <a:prstGeom prst="roundRect">
            <a:avLst>
              <a:gd name="adj" fmla="val 5223519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990901" y="3836752"/>
            <a:ext cx="1387115" cy="264345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50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REGULAÇÃO IA BRASIL · 2024</a:t>
            </a:r>
            <a:endParaRPr lang="en-US" sz="619" dirty="0"/>
          </a:p>
        </p:txBody>
      </p:sp>
      <p:sp>
        <p:nvSpPr>
          <p:cNvPr id="37" name="Text 35"/>
          <p:cNvSpPr/>
          <p:nvPr/>
        </p:nvSpPr>
        <p:spPr>
          <a:xfrm>
            <a:off x="5406591" y="3825393"/>
            <a:ext cx="1368028" cy="212027"/>
          </a:xfrm>
          <a:prstGeom prst="roundRect">
            <a:avLst>
              <a:gd name="adj" fmla="val 4487860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406591" y="3836752"/>
            <a:ext cx="1368028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LLM LOCAL PRODUÇÃO-READY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31769" y="3825393"/>
            <a:ext cx="903126" cy="212027"/>
          </a:xfrm>
          <a:prstGeom prst="roundRect">
            <a:avLst>
              <a:gd name="adj" fmla="val 4487860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831769" y="3836752"/>
            <a:ext cx="90312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AUDITORIA / LGPD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990901" y="4111786"/>
            <a:ext cx="442912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Estimativas internas baseadas em SUSEP, FENASEG e relatórios de mercado 2024-2025.</a:t>
            </a:r>
            <a:endParaRPr lang="en-US" sz="619" dirty="0"/>
          </a:p>
        </p:txBody>
      </p:sp>
      <p:sp>
        <p:nvSpPr>
          <p:cNvPr id="42" name="Shape 40"/>
          <p:cNvSpPr/>
          <p:nvPr/>
        </p:nvSpPr>
        <p:spPr>
          <a:xfrm>
            <a:off x="514350" y="4550569"/>
            <a:ext cx="8115300" cy="0"/>
          </a:xfrm>
          <a:prstGeom prst="line">
            <a:avLst/>
          </a:prstGeom>
          <a:noFill/>
          <a:ln w="7144">
            <a:solidFill>
              <a:srgbClr val="0A0A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20213" y="4625578"/>
            <a:ext cx="485403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PITCH DECK · POLICYCOMPARE AI · 06 / 09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288536" y="46255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09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6130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435769"/>
            <a:ext cx="1513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POLICYCOMPARE AI · 07 / 09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057927" y="388691"/>
            <a:ext cx="593713" cy="212027"/>
          </a:xfrm>
          <a:prstGeom prst="roundRect">
            <a:avLst>
              <a:gd name="adj" fmla="val 4487860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76846" y="400050"/>
            <a:ext cx="55587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ROADMAP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1490" y="736021"/>
            <a:ext cx="983226" cy="196025"/>
          </a:xfrm>
          <a:prstGeom prst="roundRect">
            <a:avLst>
              <a:gd name="adj" fmla="val 485421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746522"/>
            <a:ext cx="937506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EVOLUÇÃO TÉCNICA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4350" y="1007269"/>
            <a:ext cx="8629650" cy="32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21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 MVP local para plataforma enterprise auditável</a:t>
            </a:r>
            <a:endParaRPr lang="en-US" sz="2138" dirty="0"/>
          </a:p>
        </p:txBody>
      </p:sp>
      <p:sp>
        <p:nvSpPr>
          <p:cNvPr id="9" name="Text 7"/>
          <p:cNvSpPr/>
          <p:nvPr/>
        </p:nvSpPr>
        <p:spPr>
          <a:xfrm>
            <a:off x="514350" y="1377293"/>
            <a:ext cx="642937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Caminho claro para escalar recuperação semântica, observabilidade e segurança corporativa.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514350" y="1743410"/>
            <a:ext cx="8115300" cy="14288"/>
          </a:xfrm>
          <a:prstGeom prst="rect">
            <a:avLst/>
          </a:prstGeom>
          <a:solidFill>
            <a:srgbClr val="E5E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5066" y="1989869"/>
            <a:ext cx="78581" cy="78581"/>
          </a:xfrm>
          <a:prstGeom prst="ellipse">
            <a:avLst/>
          </a:prstGeom>
          <a:solidFill>
            <a:srgbClr val="10B981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5E5E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14350" y="1972010"/>
            <a:ext cx="2402586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Q1 2027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4350" y="2143460"/>
            <a:ext cx="192024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Recuperação semântica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14350" y="2323393"/>
            <a:ext cx="1828800" cy="31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Substituir TF-IDF por embeddings multilíngues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4350" y="272121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6" name="Text 14"/>
          <p:cNvSpPr/>
          <p:nvPr/>
        </p:nvSpPr>
        <p:spPr>
          <a:xfrm>
            <a:off x="657225" y="2706923"/>
            <a:ext cx="16859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vetorial (Qdrant / pgvector)</a:t>
            </a:r>
            <a:endParaRPr lang="en-US" sz="675" dirty="0"/>
          </a:p>
        </p:txBody>
      </p:sp>
      <p:sp>
        <p:nvSpPr>
          <p:cNvPr id="17" name="Text 15"/>
          <p:cNvSpPr/>
          <p:nvPr/>
        </p:nvSpPr>
        <p:spPr>
          <a:xfrm>
            <a:off x="514350" y="288406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18" name="Text 16"/>
          <p:cNvSpPr/>
          <p:nvPr/>
        </p:nvSpPr>
        <p:spPr>
          <a:xfrm>
            <a:off x="657225" y="2869778"/>
            <a:ext cx="16859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OCR de layout (tabelas e formulários)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514350" y="304692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0" name="Text 18"/>
          <p:cNvSpPr/>
          <p:nvPr/>
        </p:nvSpPr>
        <p:spPr>
          <a:xfrm>
            <a:off x="657225" y="3032633"/>
            <a:ext cx="16859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Ranking semântico no Query Agent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582466" y="1989869"/>
            <a:ext cx="78581" cy="78581"/>
          </a:xfrm>
          <a:prstGeom prst="ellipse">
            <a:avLst/>
          </a:prstGeom>
          <a:solidFill>
            <a:srgbClr val="10B981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5E5E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86050" y="1972010"/>
            <a:ext cx="2252424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Q2 2027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86050" y="2143460"/>
            <a:ext cx="180022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+ Integração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686050" y="2323393"/>
            <a:ext cx="185166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 capacidade como serviço REST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2686050" y="258659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6" name="Text 24"/>
          <p:cNvSpPr/>
          <p:nvPr/>
        </p:nvSpPr>
        <p:spPr>
          <a:xfrm>
            <a:off x="2828925" y="2572308"/>
            <a:ext cx="157162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FastAPI (upload, consulta, comparação)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86050" y="286944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28" name="Text 26"/>
          <p:cNvSpPr/>
          <p:nvPr/>
        </p:nvSpPr>
        <p:spPr>
          <a:xfrm>
            <a:off x="2828925" y="2855156"/>
            <a:ext cx="15716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Webhooks para portais corporativos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2686050" y="303229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0" name="Text 28"/>
          <p:cNvSpPr/>
          <p:nvPr/>
        </p:nvSpPr>
        <p:spPr>
          <a:xfrm>
            <a:off x="2828925" y="3018011"/>
            <a:ext cx="15716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SDK Python e TypeScript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39866" y="1989869"/>
            <a:ext cx="78581" cy="78581"/>
          </a:xfrm>
          <a:prstGeom prst="ellipse">
            <a:avLst/>
          </a:prstGeom>
          <a:solidFill>
            <a:srgbClr val="10B981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5E5E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43450" y="1972010"/>
            <a:ext cx="2067258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Q3-Q4 2027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743450" y="2143460"/>
            <a:ext cx="1800225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Escala + Segurança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43450" y="2323393"/>
            <a:ext cx="1851660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Banco corporativo + governança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43450" y="258659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6" name="Text 34"/>
          <p:cNvSpPr/>
          <p:nvPr/>
        </p:nvSpPr>
        <p:spPr>
          <a:xfrm>
            <a:off x="4886325" y="2572308"/>
            <a:ext cx="15716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PostgreSQL + pgvector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43450" y="274945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38" name="Text 36"/>
          <p:cNvSpPr/>
          <p:nvPr/>
        </p:nvSpPr>
        <p:spPr>
          <a:xfrm>
            <a:off x="4886325" y="2735163"/>
            <a:ext cx="1571625" cy="307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SSO/OIDC, RBAC, criptografia em repouso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43450" y="3032299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0" name="Text 38"/>
          <p:cNvSpPr/>
          <p:nvPr/>
        </p:nvSpPr>
        <p:spPr>
          <a:xfrm>
            <a:off x="4886325" y="3018011"/>
            <a:ext cx="15716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Trilha de auditoria + retenção</a:t>
            </a:r>
            <a:endParaRPr lang="en-US" sz="675" dirty="0"/>
          </a:p>
        </p:txBody>
      </p:sp>
      <p:sp>
        <p:nvSpPr>
          <p:cNvPr id="41" name="Text 39"/>
          <p:cNvSpPr/>
          <p:nvPr/>
        </p:nvSpPr>
        <p:spPr>
          <a:xfrm>
            <a:off x="6697266" y="1989869"/>
            <a:ext cx="78581" cy="78581"/>
          </a:xfrm>
          <a:prstGeom prst="ellipse">
            <a:avLst/>
          </a:prstGeom>
          <a:solidFill>
            <a:srgbClr val="10B981"/>
          </a:solidFill>
          <a:ln w="21431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E5E5E1">
                <a:alpha val="5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800850" y="1972010"/>
            <a:ext cx="2343150" cy="1440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27" kern="0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2028+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800850" y="2143460"/>
            <a:ext cx="1920240" cy="148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Ontologias &amp; Comparação 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800850" y="2323393"/>
            <a:ext cx="1975104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Verticalizar por ramo de seguro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800850" y="258659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6" name="Text 44"/>
          <p:cNvSpPr/>
          <p:nvPr/>
        </p:nvSpPr>
        <p:spPr>
          <a:xfrm>
            <a:off x="6943725" y="2572308"/>
            <a:ext cx="16859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Schemas para Cyber, D&amp;O, Auto, Vida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6800850" y="274945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48" name="Text 46"/>
          <p:cNvSpPr/>
          <p:nvPr/>
        </p:nvSpPr>
        <p:spPr>
          <a:xfrm>
            <a:off x="6943725" y="2735163"/>
            <a:ext cx="16859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Comparação de 3+ apólices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800850" y="2912306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0" name="Text 48"/>
          <p:cNvSpPr/>
          <p:nvPr/>
        </p:nvSpPr>
        <p:spPr>
          <a:xfrm>
            <a:off x="6943725" y="2898018"/>
            <a:ext cx="1817424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Avaliação automatizada (precision/recall/F1)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6800850" y="3075161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84" dirty="0"/>
          </a:p>
        </p:txBody>
      </p:sp>
      <p:sp>
        <p:nvSpPr>
          <p:cNvPr id="52" name="Text 50"/>
          <p:cNvSpPr/>
          <p:nvPr/>
        </p:nvSpPr>
        <p:spPr>
          <a:xfrm>
            <a:off x="6943725" y="3060874"/>
            <a:ext cx="1685925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675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Evidência navegável no PDF original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514350" y="3811191"/>
            <a:ext cx="8115300" cy="692944"/>
          </a:xfrm>
          <a:prstGeom prst="roundRect">
            <a:avLst>
              <a:gd name="adj" fmla="val 1924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14375" y="4057650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969" dirty="0"/>
          </a:p>
        </p:txBody>
      </p:sp>
      <p:sp>
        <p:nvSpPr>
          <p:cNvPr id="55" name="Text 53"/>
          <p:cNvSpPr/>
          <p:nvPr/>
        </p:nvSpPr>
        <p:spPr>
          <a:xfrm>
            <a:off x="1042988" y="3939778"/>
            <a:ext cx="7496365" cy="119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ARQUITETURA ALVO DE PRODUÇÃO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042988" y="4086225"/>
            <a:ext cx="7386638" cy="289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FastAPI + fila assíncrona · Object storage · PostgreSQL + pgvector · OCR/document intelligence · LangGraph com checkpoints e human-in-the-loop · Gateway de modelos homologados · Observabilidade e versionamento de prompts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14350" y="4550569"/>
            <a:ext cx="8115300" cy="0"/>
          </a:xfrm>
          <a:prstGeom prst="line">
            <a:avLst/>
          </a:prstGeom>
          <a:noFill/>
          <a:ln w="7144">
            <a:solidFill>
              <a:srgbClr val="0A0A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80339" y="4625578"/>
            <a:ext cx="499391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PITCH DECK · POLICYCOMPARE AI · 07 / 09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8288536" y="46255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09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6130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435769"/>
            <a:ext cx="1513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POLICYCOMPARE AI · 08 / 09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7854352" y="388691"/>
            <a:ext cx="798158" cy="212027"/>
          </a:xfrm>
          <a:prstGeom prst="roundRect">
            <a:avLst>
              <a:gd name="adj" fmla="val 4487860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789668" y="400050"/>
            <a:ext cx="927527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INVESTIMENTO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91490" y="743164"/>
            <a:ext cx="907770" cy="196025"/>
          </a:xfrm>
          <a:prstGeom prst="roundRect">
            <a:avLst>
              <a:gd name="adj" fmla="val 485421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753666"/>
            <a:ext cx="8620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PRÓXIMA RODADA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4350" y="1014413"/>
            <a:ext cx="8629650" cy="32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1"/>
              </a:lnSpc>
              <a:buNone/>
            </a:pPr>
            <a:r>
              <a:rPr lang="en-US" sz="2138" b="1" spc="-21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Captando R$ 4,5M para escalar o MVP em produto SaaS B2B</a:t>
            </a:r>
            <a:endParaRPr lang="en-US" sz="2138" dirty="0"/>
          </a:p>
        </p:txBody>
      </p:sp>
      <p:sp>
        <p:nvSpPr>
          <p:cNvPr id="9" name="Text 7"/>
          <p:cNvSpPr/>
          <p:nvPr/>
        </p:nvSpPr>
        <p:spPr>
          <a:xfrm>
            <a:off x="507206" y="1470161"/>
            <a:ext cx="3286125" cy="2614613"/>
          </a:xfrm>
          <a:prstGeom prst="roundRect">
            <a:avLst>
              <a:gd name="adj" fmla="val 5829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4371" y="1666829"/>
            <a:ext cx="904644" cy="196025"/>
          </a:xfrm>
          <a:prstGeom prst="roundRect">
            <a:avLst>
              <a:gd name="adj" fmla="val 485421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2768" y="1677330"/>
            <a:ext cx="10078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04785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SEED · 18 MESES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7231" y="1952365"/>
            <a:ext cx="2886075" cy="5726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388"/>
              </a:lnSpc>
              <a:buNone/>
            </a:pPr>
            <a:r>
              <a:rPr lang="en-US" sz="4388" b="1" spc="-88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R$ 4,5M</a:t>
            </a:r>
            <a:endParaRPr lang="en-US" sz="4388" dirty="0"/>
          </a:p>
        </p:txBody>
      </p:sp>
      <p:sp>
        <p:nvSpPr>
          <p:cNvPr id="13" name="Text 11"/>
          <p:cNvSpPr/>
          <p:nvPr/>
        </p:nvSpPr>
        <p:spPr>
          <a:xfrm>
            <a:off x="707231" y="2552440"/>
            <a:ext cx="28860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88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 PRINCIPAL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07231" y="2791755"/>
            <a:ext cx="2886075" cy="7144"/>
          </a:xfrm>
          <a:prstGeom prst="rect">
            <a:avLst/>
          </a:prstGeom>
          <a:solidFill>
            <a:srgbClr val="1F1F1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07231" y="2898911"/>
            <a:ext cx="1773936" cy="196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R$ 1,5M</a:t>
            </a:r>
            <a:endParaRPr lang="en-US" sz="1463" dirty="0"/>
          </a:p>
        </p:txBody>
      </p:sp>
      <p:sp>
        <p:nvSpPr>
          <p:cNvPr id="16" name="Text 14"/>
          <p:cNvSpPr/>
          <p:nvPr/>
        </p:nvSpPr>
        <p:spPr>
          <a:xfrm>
            <a:off x="707231" y="3122488"/>
            <a:ext cx="1469041" cy="28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spc="62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CO-INVESTIDORES STRATÉGICOS (SEGURADORAS)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207419" y="2898911"/>
            <a:ext cx="1385888" cy="19614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24m</a:t>
            </a:r>
            <a:endParaRPr lang="en-US" sz="1463" dirty="0"/>
          </a:p>
        </p:txBody>
      </p:sp>
      <p:sp>
        <p:nvSpPr>
          <p:cNvPr id="18" name="Text 16"/>
          <p:cNvSpPr/>
          <p:nvPr/>
        </p:nvSpPr>
        <p:spPr>
          <a:xfrm>
            <a:off x="2207419" y="3122488"/>
            <a:ext cx="1385888" cy="285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4"/>
              </a:lnSpc>
              <a:buNone/>
            </a:pPr>
            <a:r>
              <a:rPr lang="en-US" sz="800" spc="62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RUNWAY PÓS-MVP PRODUCT-MARKET FIT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7231" y="3426768"/>
            <a:ext cx="28860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Uso dedicado a evoluir o MVP v1.2 para SaaS B2B com pilotos pagos em 3-5 corretoras e 1-2 resseguradores brasileiros.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959339" y="1143835"/>
            <a:ext cx="5184661" cy="154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USO DE RECURSOS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959339" y="1826063"/>
            <a:ext cx="4662413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59339" y="1431371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88271" y="146030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4" name="Text 22"/>
          <p:cNvSpPr/>
          <p:nvPr/>
        </p:nvSpPr>
        <p:spPr>
          <a:xfrm>
            <a:off x="4345101" y="1411726"/>
            <a:ext cx="4137939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P&amp;D e Engenharia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45101" y="1597463"/>
            <a:ext cx="425616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RAG vetorial, API FastAPI, observabilidade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19670" y="1456374"/>
            <a:ext cx="36842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1238" dirty="0"/>
          </a:p>
        </p:txBody>
      </p:sp>
      <p:sp>
        <p:nvSpPr>
          <p:cNvPr id="27" name="Shape 25"/>
          <p:cNvSpPr/>
          <p:nvPr/>
        </p:nvSpPr>
        <p:spPr>
          <a:xfrm>
            <a:off x="3959339" y="2329697"/>
            <a:ext cx="4662413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59339" y="1935005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988271" y="1963937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547" dirty="0"/>
          </a:p>
        </p:txBody>
      </p:sp>
      <p:sp>
        <p:nvSpPr>
          <p:cNvPr id="30" name="Text 28"/>
          <p:cNvSpPr/>
          <p:nvPr/>
        </p:nvSpPr>
        <p:spPr>
          <a:xfrm>
            <a:off x="4345101" y="1915360"/>
            <a:ext cx="4137939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Comercial &amp; Pilotos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45101" y="2101097"/>
            <a:ext cx="425616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pilotos pagos em corretoras/resseguradores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319670" y="1960008"/>
            <a:ext cx="36842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25%</a:t>
            </a:r>
            <a:endParaRPr lang="en-US" sz="1238" dirty="0"/>
          </a:p>
        </p:txBody>
      </p:sp>
      <p:sp>
        <p:nvSpPr>
          <p:cNvPr id="33" name="Shape 31"/>
          <p:cNvSpPr/>
          <p:nvPr/>
        </p:nvSpPr>
        <p:spPr>
          <a:xfrm>
            <a:off x="3959339" y="2833332"/>
            <a:ext cx="4662413" cy="0"/>
          </a:xfrm>
          <a:prstGeom prst="line">
            <a:avLst/>
          </a:prstGeom>
          <a:noFill/>
          <a:ln w="7144">
            <a:solidFill>
              <a:srgbClr val="F0EF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59339" y="2438640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988271" y="246757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36" name="Text 34"/>
          <p:cNvSpPr/>
          <p:nvPr/>
        </p:nvSpPr>
        <p:spPr>
          <a:xfrm>
            <a:off x="4345101" y="2418994"/>
            <a:ext cx="4137939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Segurança &amp; Compliance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45101" y="2604732"/>
            <a:ext cx="425616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SSO, RBAC, criptografia, LGPD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319670" y="2463643"/>
            <a:ext cx="36842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238" dirty="0"/>
          </a:p>
        </p:txBody>
      </p:sp>
      <p:sp>
        <p:nvSpPr>
          <p:cNvPr id="39" name="Text 37"/>
          <p:cNvSpPr/>
          <p:nvPr/>
        </p:nvSpPr>
        <p:spPr>
          <a:xfrm>
            <a:off x="3959339" y="2942274"/>
            <a:ext cx="285750" cy="285750"/>
          </a:xfrm>
          <a:prstGeom prst="roundRect">
            <a:avLst>
              <a:gd name="adj" fmla="val 33333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988271" y="297120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lang="en-US" sz="1547" dirty="0"/>
          </a:p>
        </p:txBody>
      </p:sp>
      <p:sp>
        <p:nvSpPr>
          <p:cNvPr id="41" name="Text 39"/>
          <p:cNvSpPr/>
          <p:nvPr/>
        </p:nvSpPr>
        <p:spPr>
          <a:xfrm>
            <a:off x="4345101" y="2922629"/>
            <a:ext cx="4137939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Avaliação &amp; Datasets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45101" y="3108366"/>
            <a:ext cx="42561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Precision/recall/F1, datasets rotulados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386008" y="2967277"/>
            <a:ext cx="377190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10B98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238" dirty="0"/>
          </a:p>
        </p:txBody>
      </p:sp>
      <p:sp>
        <p:nvSpPr>
          <p:cNvPr id="44" name="Text 42"/>
          <p:cNvSpPr/>
          <p:nvPr/>
        </p:nvSpPr>
        <p:spPr>
          <a:xfrm>
            <a:off x="3959339" y="3447694"/>
            <a:ext cx="5184661" cy="126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3" kern="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MILESTONES (18 MESES)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59339" y="3715585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073639" y="3658435"/>
            <a:ext cx="4548113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M3 — Release v2.0 com API FastAPI + RAG vetorial em produção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959339" y="3912708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073639" y="3855558"/>
            <a:ext cx="4548113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M6 — 5 pilotos pagos rodando, primeira métrica de NRR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959339" y="4109831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073639" y="4052681"/>
            <a:ext cx="4548113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M12 — 20 clientes corporativos ativos, PostgreSQL migrado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3959339" y="4306954"/>
            <a:ext cx="42863" cy="42863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073639" y="4249804"/>
            <a:ext cx="4548113" cy="153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3"/>
              </a:lnSpc>
              <a:buNone/>
            </a:pPr>
            <a:r>
              <a:rPr lang="en-US" sz="800" dirty="0">
                <a:solidFill>
                  <a:srgbClr val="1F1F1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M18 — Breakeven de operação, preparação para Série A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14350" y="4550569"/>
            <a:ext cx="8115300" cy="0"/>
          </a:xfrm>
          <a:prstGeom prst="line">
            <a:avLst/>
          </a:prstGeom>
          <a:noFill/>
          <a:ln w="7144">
            <a:solidFill>
              <a:srgbClr val="0A0A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3149" y="4625578"/>
            <a:ext cx="765109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PITCH DECK · POLICYCOMPARE AI · 08 / 09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288536" y="46255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09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66130"/>
            <a:ext cx="57150" cy="5715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435769"/>
            <a:ext cx="151370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POLICYCOMPARE AI · 09 / 09</a:t>
            </a:r>
            <a:endParaRPr lang="en-US" sz="619" dirty="0"/>
          </a:p>
        </p:txBody>
      </p:sp>
      <p:sp>
        <p:nvSpPr>
          <p:cNvPr id="4" name="Text 2"/>
          <p:cNvSpPr/>
          <p:nvPr/>
        </p:nvSpPr>
        <p:spPr>
          <a:xfrm>
            <a:off x="8030379" y="388691"/>
            <a:ext cx="622131" cy="212027"/>
          </a:xfrm>
          <a:prstGeom prst="roundRect">
            <a:avLst>
              <a:gd name="adj" fmla="val 4487860"/>
            </a:avLst>
          </a:prstGeom>
          <a:solidFill>
            <a:srgbClr val="F7F7F5"/>
          </a:solidFill>
          <a:ln w="7144">
            <a:solidFill>
              <a:srgbClr val="E5E5E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026342" y="400050"/>
            <a:ext cx="630204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50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OBRIGADO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891964"/>
            <a:ext cx="571500" cy="28575"/>
          </a:xfrm>
          <a:prstGeom prst="roundRect">
            <a:avLst>
              <a:gd name="adj" fmla="val 6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977689"/>
            <a:ext cx="7429388" cy="1408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0"/>
              </a:lnSpc>
              <a:buNone/>
            </a:pPr>
            <a:r>
              <a:rPr lang="en-US" sz="4500" b="1" spc="-90" kern="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Vamos transformar a leitura de apólices?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514350" y="2214897"/>
            <a:ext cx="8486775" cy="629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90"/>
              </a:lnSpc>
              <a:buNone/>
            </a:pPr>
            <a:r>
              <a:rPr lang="en-US" sz="4500" b="1" spc="-90" kern="0" dirty="0">
                <a:solidFill>
                  <a:srgbClr val="10B98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 IA local e auditoria nativa.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14350" y="2954945"/>
            <a:ext cx="5000625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3"/>
              </a:lnSpc>
              <a:buNone/>
            </a:pPr>
            <a:r>
              <a:rPr lang="en-US" sz="1069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PolicyCompare AI v1.2 está pronto para piloto. Buscamos investidores estratégicos e parceiros do ecossistema de seguros Brasil/LatAm.</a:t>
            </a:r>
            <a:endParaRPr lang="en-US" sz="1069" dirty="0"/>
          </a:p>
        </p:txBody>
      </p:sp>
      <p:sp>
        <p:nvSpPr>
          <p:cNvPr id="10" name="Text 8"/>
          <p:cNvSpPr/>
          <p:nvPr/>
        </p:nvSpPr>
        <p:spPr>
          <a:xfrm>
            <a:off x="514350" y="375058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547" dirty="0"/>
          </a:p>
        </p:txBody>
      </p:sp>
      <p:sp>
        <p:nvSpPr>
          <p:cNvPr id="11" name="Text 9"/>
          <p:cNvSpPr/>
          <p:nvPr/>
        </p:nvSpPr>
        <p:spPr>
          <a:xfrm>
            <a:off x="514350" y="3964893"/>
            <a:ext cx="3399668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4350" y="4111340"/>
            <a:ext cx="2600247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team@policycompare.ai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4350" y="4288482"/>
            <a:ext cx="2600247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Resposta em 48h úteis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22947" y="3750580"/>
            <a:ext cx="0" cy="667829"/>
          </a:xfrm>
          <a:prstGeom prst="line">
            <a:avLst/>
          </a:prstGeom>
          <a:noFill/>
          <a:ln w="7144">
            <a:solidFill>
              <a:srgbClr val="E5E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5119" y="375058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16" name="Text 14"/>
          <p:cNvSpPr/>
          <p:nvPr/>
        </p:nvSpPr>
        <p:spPr>
          <a:xfrm>
            <a:off x="3455119" y="3964893"/>
            <a:ext cx="2240793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DEMO &amp; DOCS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55119" y="4111340"/>
            <a:ext cx="2240793" cy="1497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policycompare.ai/demo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55119" y="4288482"/>
            <a:ext cx="2350521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Ambiente de demonstração sob agendamento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28085" y="3750580"/>
            <a:ext cx="0" cy="667829"/>
          </a:xfrm>
          <a:prstGeom prst="line">
            <a:avLst/>
          </a:prstGeom>
          <a:noFill/>
          <a:ln w="7144">
            <a:solidFill>
              <a:srgbClr val="E5E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0257" y="3750580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10B98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21" name="Text 19"/>
          <p:cNvSpPr/>
          <p:nvPr/>
        </p:nvSpPr>
        <p:spPr>
          <a:xfrm>
            <a:off x="6160257" y="3964893"/>
            <a:ext cx="2240682" cy="1190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PRÓXIMO PASSO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60257" y="4111340"/>
            <a:ext cx="2350410" cy="149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0A0A0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Reunião de deep-dive técnico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60257" y="4288482"/>
            <a:ext cx="2350410" cy="129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30min · arquitetura + roadmap detalhado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4350" y="4550569"/>
            <a:ext cx="8115300" cy="0"/>
          </a:xfrm>
          <a:prstGeom prst="line">
            <a:avLst/>
          </a:prstGeom>
          <a:noFill/>
          <a:ln w="7144">
            <a:solidFill>
              <a:srgbClr val="0A0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48251" y="4625578"/>
            <a:ext cx="512599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POLICYCOMPARE AI · PITCH DECK · V1.2 · OUT 2026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288536" y="4625578"/>
            <a:ext cx="4955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74" kern="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09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2026-10-07T01:47:20Z</dcterms:created>
  <dcterms:modified xsi:type="dcterms:W3CDTF">2026-10-07T01:47:20Z</dcterms:modified>
</cp:coreProperties>
</file>